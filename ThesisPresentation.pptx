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3291620-60F5-49A4-B9DF-6240438A9DA3}">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1" autoAdjust="0"/>
    <p:restoredTop sz="94660"/>
  </p:normalViewPr>
  <p:slideViewPr>
    <p:cSldViewPr snapToGrid="0">
      <p:cViewPr varScale="1">
        <p:scale>
          <a:sx n="159" d="100"/>
          <a:sy n="159" d="100"/>
        </p:scale>
        <p:origin x="150"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E6FDC6-8F17-4DEA-861F-C7D814E4E498}" type="datetimeFigureOut">
              <a:rPr lang="ro-RO" smtClean="0"/>
              <a:t>02.07.2026</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2AEEF0F-08B6-4769-B08F-DA7788F49A7D}" type="slidenum">
              <a:rPr lang="ro-RO" smtClean="0"/>
              <a:t>‹#›</a:t>
            </a:fld>
            <a:endParaRPr lang="ro-R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2221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E6FDC6-8F17-4DEA-861F-C7D814E4E498}" type="datetimeFigureOut">
              <a:rPr lang="ro-RO" smtClean="0"/>
              <a:t>02.07.2026</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2AEEF0F-08B6-4769-B08F-DA7788F49A7D}" type="slidenum">
              <a:rPr lang="ro-RO" smtClean="0"/>
              <a:t>‹#›</a:t>
            </a:fld>
            <a:endParaRPr lang="ro-RO"/>
          </a:p>
        </p:txBody>
      </p:sp>
    </p:spTree>
    <p:extLst>
      <p:ext uri="{BB962C8B-B14F-4D97-AF65-F5344CB8AC3E}">
        <p14:creationId xmlns:p14="http://schemas.microsoft.com/office/powerpoint/2010/main" val="3261450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E6FDC6-8F17-4DEA-861F-C7D814E4E498}" type="datetimeFigureOut">
              <a:rPr lang="ro-RO" smtClean="0"/>
              <a:t>02.07.2026</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2AEEF0F-08B6-4769-B08F-DA7788F49A7D}" type="slidenum">
              <a:rPr lang="ro-RO" smtClean="0"/>
              <a:t>‹#›</a:t>
            </a:fld>
            <a:endParaRPr lang="ro-R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527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E6FDC6-8F17-4DEA-861F-C7D814E4E498}" type="datetimeFigureOut">
              <a:rPr lang="ro-RO" smtClean="0"/>
              <a:t>02.07.2026</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22AEEF0F-08B6-4769-B08F-DA7788F49A7D}" type="slidenum">
              <a:rPr lang="ro-RO" smtClean="0"/>
              <a:t>‹#›</a:t>
            </a:fld>
            <a:endParaRPr lang="ro-RO"/>
          </a:p>
        </p:txBody>
      </p:sp>
    </p:spTree>
    <p:extLst>
      <p:ext uri="{BB962C8B-B14F-4D97-AF65-F5344CB8AC3E}">
        <p14:creationId xmlns:p14="http://schemas.microsoft.com/office/powerpoint/2010/main" val="3710551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E6FDC6-8F17-4DEA-861F-C7D814E4E498}" type="datetimeFigureOut">
              <a:rPr lang="ro-RO" smtClean="0"/>
              <a:t>02.07.2026</a:t>
            </a:fld>
            <a:endParaRPr lang="ro-RO"/>
          </a:p>
        </p:txBody>
      </p:sp>
      <p:sp>
        <p:nvSpPr>
          <p:cNvPr id="8" name="Footer Placeholder 7"/>
          <p:cNvSpPr>
            <a:spLocks noGrp="1"/>
          </p:cNvSpPr>
          <p:nvPr>
            <p:ph type="ftr" sz="quarter" idx="11"/>
          </p:nvPr>
        </p:nvSpPr>
        <p:spPr/>
        <p:txBody>
          <a:bodyPr/>
          <a:lstStyle/>
          <a:p>
            <a:endParaRPr lang="ro-RO"/>
          </a:p>
        </p:txBody>
      </p:sp>
      <p:sp>
        <p:nvSpPr>
          <p:cNvPr id="9" name="Slide Number Placeholder 8"/>
          <p:cNvSpPr>
            <a:spLocks noGrp="1"/>
          </p:cNvSpPr>
          <p:nvPr>
            <p:ph type="sldNum" sz="quarter" idx="12"/>
          </p:nvPr>
        </p:nvSpPr>
        <p:spPr/>
        <p:txBody>
          <a:bodyPr/>
          <a:lstStyle/>
          <a:p>
            <a:fld id="{22AEEF0F-08B6-4769-B08F-DA7788F49A7D}" type="slidenum">
              <a:rPr lang="ro-RO" smtClean="0"/>
              <a:t>‹#›</a:t>
            </a:fld>
            <a:endParaRPr lang="ro-RO"/>
          </a:p>
        </p:txBody>
      </p:sp>
    </p:spTree>
    <p:extLst>
      <p:ext uri="{BB962C8B-B14F-4D97-AF65-F5344CB8AC3E}">
        <p14:creationId xmlns:p14="http://schemas.microsoft.com/office/powerpoint/2010/main" val="6486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E6FDC6-8F17-4DEA-861F-C7D814E4E498}" type="datetimeFigureOut">
              <a:rPr lang="ro-RO" smtClean="0"/>
              <a:t>02.07.2026</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22AEEF0F-08B6-4769-B08F-DA7788F49A7D}" type="slidenum">
              <a:rPr lang="ro-RO" smtClean="0"/>
              <a:t>‹#›</a:t>
            </a:fld>
            <a:endParaRPr lang="ro-RO"/>
          </a:p>
        </p:txBody>
      </p:sp>
    </p:spTree>
    <p:extLst>
      <p:ext uri="{BB962C8B-B14F-4D97-AF65-F5344CB8AC3E}">
        <p14:creationId xmlns:p14="http://schemas.microsoft.com/office/powerpoint/2010/main" val="3253445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E6FDC6-8F17-4DEA-861F-C7D814E4E498}" type="datetimeFigureOut">
              <a:rPr lang="ro-RO" smtClean="0"/>
              <a:t>02.07.2026</a:t>
            </a:fld>
            <a:endParaRPr lang="ro-R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o-RO"/>
          </a:p>
        </p:txBody>
      </p:sp>
      <p:sp>
        <p:nvSpPr>
          <p:cNvPr id="9" name="Slide Number Placeholder 8"/>
          <p:cNvSpPr>
            <a:spLocks noGrp="1"/>
          </p:cNvSpPr>
          <p:nvPr>
            <p:ph type="sldNum" sz="quarter" idx="12"/>
          </p:nvPr>
        </p:nvSpPr>
        <p:spPr/>
        <p:txBody>
          <a:bodyPr/>
          <a:lstStyle/>
          <a:p>
            <a:fld id="{22AEEF0F-08B6-4769-B08F-DA7788F49A7D}" type="slidenum">
              <a:rPr lang="ro-RO" smtClean="0"/>
              <a:t>‹#›</a:t>
            </a:fld>
            <a:endParaRPr lang="ro-RO"/>
          </a:p>
        </p:txBody>
      </p:sp>
    </p:spTree>
    <p:extLst>
      <p:ext uri="{BB962C8B-B14F-4D97-AF65-F5344CB8AC3E}">
        <p14:creationId xmlns:p14="http://schemas.microsoft.com/office/powerpoint/2010/main" val="2865437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8E6FDC6-8F17-4DEA-861F-C7D814E4E498}" type="datetimeFigureOut">
              <a:rPr lang="ro-RO" smtClean="0"/>
              <a:t>02.07.2026</a:t>
            </a:fld>
            <a:endParaRPr lang="ro-R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o-R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AEEF0F-08B6-4769-B08F-DA7788F49A7D}" type="slidenum">
              <a:rPr lang="ro-RO" smtClean="0"/>
              <a:t>‹#›</a:t>
            </a:fld>
            <a:endParaRPr lang="ro-RO"/>
          </a:p>
        </p:txBody>
      </p:sp>
    </p:spTree>
    <p:extLst>
      <p:ext uri="{BB962C8B-B14F-4D97-AF65-F5344CB8AC3E}">
        <p14:creationId xmlns:p14="http://schemas.microsoft.com/office/powerpoint/2010/main" val="3148769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68E6FDC6-8F17-4DEA-861F-C7D814E4E498}" type="datetimeFigureOut">
              <a:rPr lang="ro-RO" smtClean="0"/>
              <a:t>02.07.2026</a:t>
            </a:fld>
            <a:endParaRPr lang="ro-RO"/>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ro-R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AEEF0F-08B6-4769-B08F-DA7788F49A7D}" type="slidenum">
              <a:rPr lang="ro-RO" smtClean="0"/>
              <a:t>‹#›</a:t>
            </a:fld>
            <a:endParaRPr lang="ro-RO"/>
          </a:p>
        </p:txBody>
      </p:sp>
    </p:spTree>
    <p:extLst>
      <p:ext uri="{BB962C8B-B14F-4D97-AF65-F5344CB8AC3E}">
        <p14:creationId xmlns:p14="http://schemas.microsoft.com/office/powerpoint/2010/main" val="42288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E6FDC6-8F17-4DEA-861F-C7D814E4E498}" type="datetimeFigureOut">
              <a:rPr lang="ro-RO" smtClean="0"/>
              <a:t>02.07.2026</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2AEEF0F-08B6-4769-B08F-DA7788F49A7D}" type="slidenum">
              <a:rPr lang="ro-RO" smtClean="0"/>
              <a:t>‹#›</a:t>
            </a:fld>
            <a:endParaRPr lang="ro-RO"/>
          </a:p>
        </p:txBody>
      </p:sp>
    </p:spTree>
    <p:extLst>
      <p:ext uri="{BB962C8B-B14F-4D97-AF65-F5344CB8AC3E}">
        <p14:creationId xmlns:p14="http://schemas.microsoft.com/office/powerpoint/2010/main" val="1739185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E6FDC6-8F17-4DEA-861F-C7D814E4E498}" type="datetimeFigureOut">
              <a:rPr lang="ro-RO" smtClean="0"/>
              <a:t>02.07.2026</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2AEEF0F-08B6-4769-B08F-DA7788F49A7D}" type="slidenum">
              <a:rPr lang="ro-RO" smtClean="0"/>
              <a:t>‹#›</a:t>
            </a:fld>
            <a:endParaRPr lang="ro-RO"/>
          </a:p>
        </p:txBody>
      </p:sp>
    </p:spTree>
    <p:extLst>
      <p:ext uri="{BB962C8B-B14F-4D97-AF65-F5344CB8AC3E}">
        <p14:creationId xmlns:p14="http://schemas.microsoft.com/office/powerpoint/2010/main" val="64392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8E6FDC6-8F17-4DEA-861F-C7D814E4E498}" type="datetimeFigureOut">
              <a:rPr lang="ro-RO" smtClean="0"/>
              <a:t>02.07.2026</a:t>
            </a:fld>
            <a:endParaRPr lang="ro-R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o-R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2AEEF0F-08B6-4769-B08F-DA7788F49A7D}" type="slidenum">
              <a:rPr lang="ro-RO" smtClean="0"/>
              <a:t>‹#›</a:t>
            </a:fld>
            <a:endParaRPr lang="ro-R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14506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2FE9-8E0E-E749-392E-EFFA113973EF}"/>
              </a:ext>
            </a:extLst>
          </p:cNvPr>
          <p:cNvSpPr>
            <a:spLocks noGrp="1"/>
          </p:cNvSpPr>
          <p:nvPr>
            <p:ph type="ctrTitle"/>
          </p:nvPr>
        </p:nvSpPr>
        <p:spPr/>
        <p:txBody>
          <a:bodyPr>
            <a:normAutofit fontScale="90000"/>
          </a:bodyPr>
          <a:lstStyle/>
          <a:p>
            <a:r>
              <a:rPr lang="en-US" dirty="0"/>
              <a:t>Graphing - </a:t>
            </a:r>
            <a:r>
              <a:rPr lang="ro-RO" dirty="0"/>
              <a:t>Platformă de vizualizare și editare de grafuri 3D folosind </a:t>
            </a:r>
            <a:r>
              <a:rPr lang="ro-RO" dirty="0" err="1"/>
              <a:t>WebGL</a:t>
            </a:r>
            <a:endParaRPr lang="ro-RO" dirty="0"/>
          </a:p>
        </p:txBody>
      </p:sp>
      <p:sp>
        <p:nvSpPr>
          <p:cNvPr id="3" name="Subtitle 2">
            <a:extLst>
              <a:ext uri="{FF2B5EF4-FFF2-40B4-BE49-F238E27FC236}">
                <a16:creationId xmlns:a16="http://schemas.microsoft.com/office/drawing/2014/main" id="{FE42BF07-8246-5156-DF88-0C160C6C9E3D}"/>
              </a:ext>
            </a:extLst>
          </p:cNvPr>
          <p:cNvSpPr>
            <a:spLocks noGrp="1"/>
          </p:cNvSpPr>
          <p:nvPr>
            <p:ph type="subTitle" idx="1"/>
          </p:nvPr>
        </p:nvSpPr>
        <p:spPr/>
        <p:txBody>
          <a:bodyPr>
            <a:normAutofit/>
          </a:bodyPr>
          <a:lstStyle/>
          <a:p>
            <a:r>
              <a:rPr lang="en-US" sz="1400" dirty="0"/>
              <a:t>P</a:t>
            </a:r>
            <a:r>
              <a:rPr lang="ro-RO" sz="1400" dirty="0" err="1"/>
              <a:t>ăcurariu</a:t>
            </a:r>
            <a:r>
              <a:rPr lang="ro-RO" sz="1400" dirty="0"/>
              <a:t> Răzvan Mihai</a:t>
            </a:r>
          </a:p>
          <a:p>
            <a:r>
              <a:rPr lang="ro-RO" sz="1400" dirty="0"/>
              <a:t>Coordonator științific Lect. Dr. Carmen Elena </a:t>
            </a:r>
            <a:r>
              <a:rPr lang="ro-RO" sz="1400" dirty="0" err="1"/>
              <a:t>Chiriță</a:t>
            </a:r>
            <a:endParaRPr lang="ro-RO" sz="1400" dirty="0"/>
          </a:p>
        </p:txBody>
      </p:sp>
      <p:sp>
        <p:nvSpPr>
          <p:cNvPr id="4" name="TextBox 3">
            <a:extLst>
              <a:ext uri="{FF2B5EF4-FFF2-40B4-BE49-F238E27FC236}">
                <a16:creationId xmlns:a16="http://schemas.microsoft.com/office/drawing/2014/main" id="{ABB45DEA-D13C-C517-A173-941A3A95AE72}"/>
              </a:ext>
            </a:extLst>
          </p:cNvPr>
          <p:cNvSpPr txBox="1"/>
          <p:nvPr/>
        </p:nvSpPr>
        <p:spPr>
          <a:xfrm>
            <a:off x="54140" y="5979695"/>
            <a:ext cx="7615991" cy="369332"/>
          </a:xfrm>
          <a:prstGeom prst="rect">
            <a:avLst/>
          </a:prstGeom>
          <a:noFill/>
        </p:spPr>
        <p:txBody>
          <a:bodyPr wrap="square" rtlCol="0">
            <a:spAutoFit/>
          </a:bodyPr>
          <a:lstStyle/>
          <a:p>
            <a:r>
              <a:rPr lang="ro-RO" dirty="0"/>
              <a:t>Universitatea din București – Facultatea de Matematică și Informatică</a:t>
            </a:r>
          </a:p>
        </p:txBody>
      </p:sp>
      <p:sp>
        <p:nvSpPr>
          <p:cNvPr id="6" name="TextBox 5">
            <a:extLst>
              <a:ext uri="{FF2B5EF4-FFF2-40B4-BE49-F238E27FC236}">
                <a16:creationId xmlns:a16="http://schemas.microsoft.com/office/drawing/2014/main" id="{21CE64DA-82B0-CA6F-B2D9-3DB9BEC2F4BB}"/>
              </a:ext>
            </a:extLst>
          </p:cNvPr>
          <p:cNvSpPr txBox="1"/>
          <p:nvPr/>
        </p:nvSpPr>
        <p:spPr>
          <a:xfrm>
            <a:off x="6849978" y="5979695"/>
            <a:ext cx="5179596" cy="369332"/>
          </a:xfrm>
          <a:prstGeom prst="rect">
            <a:avLst/>
          </a:prstGeom>
          <a:noFill/>
        </p:spPr>
        <p:txBody>
          <a:bodyPr wrap="square" rtlCol="0">
            <a:spAutoFit/>
          </a:bodyPr>
          <a:lstStyle/>
          <a:p>
            <a:pPr algn="r"/>
            <a:r>
              <a:rPr lang="ro-RO" dirty="0"/>
              <a:t>București, Iunie – Iulie 2026</a:t>
            </a:r>
          </a:p>
        </p:txBody>
      </p:sp>
    </p:spTree>
    <p:extLst>
      <p:ext uri="{BB962C8B-B14F-4D97-AF65-F5344CB8AC3E}">
        <p14:creationId xmlns:p14="http://schemas.microsoft.com/office/powerpoint/2010/main" val="4135956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77B7-6BF1-04EC-C3D2-7AE84C780D78}"/>
              </a:ext>
            </a:extLst>
          </p:cNvPr>
          <p:cNvSpPr>
            <a:spLocks noGrp="1"/>
          </p:cNvSpPr>
          <p:nvPr>
            <p:ph type="title"/>
          </p:nvPr>
        </p:nvSpPr>
        <p:spPr/>
        <p:txBody>
          <a:bodyPr/>
          <a:lstStyle/>
          <a:p>
            <a:r>
              <a:rPr lang="ro-RO" dirty="0"/>
              <a:t>Introducere</a:t>
            </a:r>
          </a:p>
        </p:txBody>
      </p:sp>
      <p:sp>
        <p:nvSpPr>
          <p:cNvPr id="3" name="Content Placeholder 2">
            <a:extLst>
              <a:ext uri="{FF2B5EF4-FFF2-40B4-BE49-F238E27FC236}">
                <a16:creationId xmlns:a16="http://schemas.microsoft.com/office/drawing/2014/main" id="{1F45DB68-A0AA-2553-94F3-65C4C8E0F35C}"/>
              </a:ext>
            </a:extLst>
          </p:cNvPr>
          <p:cNvSpPr>
            <a:spLocks noGrp="1"/>
          </p:cNvSpPr>
          <p:nvPr>
            <p:ph idx="1"/>
          </p:nvPr>
        </p:nvSpPr>
        <p:spPr/>
        <p:txBody>
          <a:bodyPr/>
          <a:lstStyle/>
          <a:p>
            <a:pPr marL="0" indent="0">
              <a:buNone/>
            </a:pPr>
            <a:r>
              <a:rPr lang="ro-RO" dirty="0"/>
              <a:t>	</a:t>
            </a:r>
            <a:r>
              <a:rPr lang="ro-RO" sz="3600" b="1" dirty="0" err="1"/>
              <a:t>Graphing</a:t>
            </a:r>
            <a:r>
              <a:rPr lang="ro-RO" sz="3600" dirty="0"/>
              <a:t> este o aplicație web care combină o platformă socială cu o interfață care îi permite utilizatorului să creeze și să editeze scene 3D formate din grafuri explicite, implicite și parametrice. </a:t>
            </a:r>
          </a:p>
        </p:txBody>
      </p:sp>
    </p:spTree>
    <p:extLst>
      <p:ext uri="{BB962C8B-B14F-4D97-AF65-F5344CB8AC3E}">
        <p14:creationId xmlns:p14="http://schemas.microsoft.com/office/powerpoint/2010/main" val="1575151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D5D4E-69E5-EEE5-8165-F9FF55BCE143}"/>
              </a:ext>
            </a:extLst>
          </p:cNvPr>
          <p:cNvSpPr>
            <a:spLocks noGrp="1"/>
          </p:cNvSpPr>
          <p:nvPr>
            <p:ph type="title"/>
          </p:nvPr>
        </p:nvSpPr>
        <p:spPr/>
        <p:txBody>
          <a:bodyPr/>
          <a:lstStyle/>
          <a:p>
            <a:r>
              <a:rPr lang="ro-RO" dirty="0"/>
              <a:t>Alegerea temei și contribuția originală</a:t>
            </a:r>
          </a:p>
        </p:txBody>
      </p:sp>
      <p:sp>
        <p:nvSpPr>
          <p:cNvPr id="3" name="Content Placeholder 2">
            <a:extLst>
              <a:ext uri="{FF2B5EF4-FFF2-40B4-BE49-F238E27FC236}">
                <a16:creationId xmlns:a16="http://schemas.microsoft.com/office/drawing/2014/main" id="{6D97B800-09C8-2488-24CD-BFB3477105B7}"/>
              </a:ext>
            </a:extLst>
          </p:cNvPr>
          <p:cNvSpPr>
            <a:spLocks noGrp="1"/>
          </p:cNvSpPr>
          <p:nvPr>
            <p:ph idx="1"/>
          </p:nvPr>
        </p:nvSpPr>
        <p:spPr/>
        <p:txBody>
          <a:bodyPr/>
          <a:lstStyle/>
          <a:p>
            <a:pPr marL="201168" lvl="1" indent="0">
              <a:buNone/>
            </a:pPr>
            <a:r>
              <a:rPr lang="ro-RO" dirty="0"/>
              <a:t>	În prezent, uneltele de vizualizare matematică există adesea ca editoare izolate, dar rareori oferă un model de comunitate pentru distribuirea, discutarea, moderarea și refolosirea construcțiilor cu grafuri, în special folosind toate aceste elemente.</a:t>
            </a:r>
          </a:p>
          <a:p>
            <a:pPr marL="201168" lvl="1" indent="0">
              <a:buNone/>
            </a:pPr>
            <a:r>
              <a:rPr lang="ro-RO" dirty="0"/>
              <a:t>	Din această cauză, s-a implementat o platformă socială unde, în comparație cu platformele uzuale ale căror postări conțin text, imagini sau video-uri, </a:t>
            </a:r>
            <a:r>
              <a:rPr lang="ro-RO" b="1" dirty="0"/>
              <a:t>unitatea principală de conținut </a:t>
            </a:r>
            <a:r>
              <a:rPr lang="ro-RO" dirty="0"/>
              <a:t>folosită sunt scenele de </a:t>
            </a:r>
            <a:r>
              <a:rPr lang="ro-RO" dirty="0" err="1"/>
              <a:t>grafare</a:t>
            </a:r>
            <a:r>
              <a:rPr lang="ro-RO" dirty="0"/>
              <a:t> interactive, </a:t>
            </a:r>
            <a:r>
              <a:rPr lang="ro-RO" dirty="0" err="1"/>
              <a:t>randate</a:t>
            </a:r>
            <a:r>
              <a:rPr lang="ro-RO" dirty="0"/>
              <a:t> într-un editor 3D în browser.</a:t>
            </a:r>
          </a:p>
          <a:p>
            <a:pPr marL="201168" lvl="1" indent="0">
              <a:buNone/>
            </a:pPr>
            <a:r>
              <a:rPr lang="ro-RO" b="1" dirty="0"/>
              <a:t>	</a:t>
            </a:r>
            <a:r>
              <a:rPr lang="ro-RO" dirty="0"/>
              <a:t>S-a realizat implementarea completă a aplicației web, identificarea rolurilor și a drepturilor pentru fiecare rol, proiectarea și implementarea arhitecturii aplicației și a bazei de date, alegerea tehnologiilor potrivite, și, în final, proiectarea și implementarea a unui sistem de </a:t>
            </a:r>
            <a:r>
              <a:rPr lang="ro-RO" dirty="0" err="1"/>
              <a:t>grafare</a:t>
            </a:r>
            <a:r>
              <a:rPr lang="ro-RO" dirty="0"/>
              <a:t>.</a:t>
            </a:r>
          </a:p>
          <a:p>
            <a:pPr marL="201168" lvl="1" indent="0">
              <a:buNone/>
            </a:pPr>
            <a:r>
              <a:rPr lang="ro-RO" b="1" dirty="0"/>
              <a:t>	</a:t>
            </a:r>
            <a:r>
              <a:rPr lang="ro-RO" dirty="0"/>
              <a:t>S-a ținut cont de o experiență optimizată pentru utilizator, oferind-ui o interfață vizuală </a:t>
            </a:r>
            <a:r>
              <a:rPr lang="ro-RO" dirty="0" err="1"/>
              <a:t>coererentă</a:t>
            </a:r>
            <a:r>
              <a:rPr lang="ro-RO" dirty="0"/>
              <a:t> și </a:t>
            </a:r>
            <a:r>
              <a:rPr lang="ro-RO" dirty="0" err="1"/>
              <a:t>responsive</a:t>
            </a:r>
            <a:r>
              <a:rPr lang="ro-RO" dirty="0"/>
              <a:t>.</a:t>
            </a:r>
            <a:endParaRPr lang="ro-RO" b="1" dirty="0"/>
          </a:p>
          <a:p>
            <a:pPr lvl="1"/>
            <a:endParaRPr lang="ro-RO" dirty="0"/>
          </a:p>
        </p:txBody>
      </p:sp>
    </p:spTree>
    <p:extLst>
      <p:ext uri="{BB962C8B-B14F-4D97-AF65-F5344CB8AC3E}">
        <p14:creationId xmlns:p14="http://schemas.microsoft.com/office/powerpoint/2010/main" val="3260782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5BF30D-3BB9-6E9E-4364-F5198B06F252}"/>
              </a:ext>
            </a:extLst>
          </p:cNvPr>
          <p:cNvSpPr>
            <a:spLocks noGrp="1"/>
          </p:cNvSpPr>
          <p:nvPr>
            <p:ph type="ctrTitle"/>
          </p:nvPr>
        </p:nvSpPr>
        <p:spPr/>
        <p:txBody>
          <a:bodyPr/>
          <a:lstStyle/>
          <a:p>
            <a:r>
              <a:rPr lang="ro-RO" dirty="0"/>
              <a:t>Arhitectura aplicației</a:t>
            </a:r>
          </a:p>
        </p:txBody>
      </p:sp>
      <p:sp>
        <p:nvSpPr>
          <p:cNvPr id="5" name="Subtitle 4">
            <a:extLst>
              <a:ext uri="{FF2B5EF4-FFF2-40B4-BE49-F238E27FC236}">
                <a16:creationId xmlns:a16="http://schemas.microsoft.com/office/drawing/2014/main" id="{318E9CBA-4E26-8894-580C-2933642529C9}"/>
              </a:ext>
            </a:extLst>
          </p:cNvPr>
          <p:cNvSpPr>
            <a:spLocks noGrp="1"/>
          </p:cNvSpPr>
          <p:nvPr>
            <p:ph type="subTitle" idx="1"/>
          </p:nvPr>
        </p:nvSpPr>
        <p:spPr/>
        <p:txBody>
          <a:bodyPr/>
          <a:lstStyle/>
          <a:p>
            <a:r>
              <a:rPr lang="ro-RO" dirty="0"/>
              <a:t>Și tehnologii folosite</a:t>
            </a:r>
          </a:p>
        </p:txBody>
      </p:sp>
    </p:spTree>
    <p:extLst>
      <p:ext uri="{BB962C8B-B14F-4D97-AF65-F5344CB8AC3E}">
        <p14:creationId xmlns:p14="http://schemas.microsoft.com/office/powerpoint/2010/main" val="290292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6D385A4-7DA7-3A78-002B-738F181DE9B6}"/>
              </a:ext>
            </a:extLst>
          </p:cNvPr>
          <p:cNvSpPr>
            <a:spLocks noGrp="1"/>
          </p:cNvSpPr>
          <p:nvPr>
            <p:ph type="title"/>
          </p:nvPr>
        </p:nvSpPr>
        <p:spPr/>
        <p:txBody>
          <a:bodyPr/>
          <a:lstStyle/>
          <a:p>
            <a:r>
              <a:rPr lang="ro-RO" dirty="0" err="1"/>
              <a:t>Overview</a:t>
            </a:r>
            <a:endParaRPr lang="ro-RO" dirty="0"/>
          </a:p>
        </p:txBody>
      </p:sp>
      <p:sp>
        <p:nvSpPr>
          <p:cNvPr id="11" name="Rectangle 10">
            <a:extLst>
              <a:ext uri="{FF2B5EF4-FFF2-40B4-BE49-F238E27FC236}">
                <a16:creationId xmlns:a16="http://schemas.microsoft.com/office/drawing/2014/main" id="{3E4F2536-1F5E-1146-54B6-898B3A70E09C}"/>
              </a:ext>
            </a:extLst>
          </p:cNvPr>
          <p:cNvSpPr/>
          <p:nvPr/>
        </p:nvSpPr>
        <p:spPr>
          <a:xfrm>
            <a:off x="3278293" y="1781386"/>
            <a:ext cx="5696374" cy="2722285"/>
          </a:xfrm>
          <a:prstGeom prst="rect">
            <a:avLst/>
          </a:prstGeom>
          <a:gradFill>
            <a:gsLst>
              <a:gs pos="53000">
                <a:schemeClr val="accent1">
                  <a:lumMod val="5000"/>
                  <a:lumOff val="95000"/>
                </a:schemeClr>
              </a:gs>
              <a:gs pos="100000">
                <a:schemeClr val="accent1">
                  <a:lumMod val="30000"/>
                  <a:lumOff val="70000"/>
                  <a:alpha val="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10" name="Content Placeholder 9">
            <a:extLst>
              <a:ext uri="{FF2B5EF4-FFF2-40B4-BE49-F238E27FC236}">
                <a16:creationId xmlns:a16="http://schemas.microsoft.com/office/drawing/2014/main" id="{B751442D-8BED-4D8F-410C-B3BE785282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27213" y="1858772"/>
            <a:ext cx="3737574" cy="2215041"/>
          </a:xfrm>
          <a:prstGeom prst="rect">
            <a:avLst/>
          </a:prstGeom>
        </p:spPr>
      </p:pic>
      <p:sp>
        <p:nvSpPr>
          <p:cNvPr id="12" name="TextBox 11">
            <a:extLst>
              <a:ext uri="{FF2B5EF4-FFF2-40B4-BE49-F238E27FC236}">
                <a16:creationId xmlns:a16="http://schemas.microsoft.com/office/drawing/2014/main" id="{61EE4C18-79A8-CD06-D2D9-0645878D67B2}"/>
              </a:ext>
            </a:extLst>
          </p:cNvPr>
          <p:cNvSpPr txBox="1"/>
          <p:nvPr/>
        </p:nvSpPr>
        <p:spPr>
          <a:xfrm>
            <a:off x="135467" y="5201920"/>
            <a:ext cx="11982026" cy="923330"/>
          </a:xfrm>
          <a:prstGeom prst="rect">
            <a:avLst/>
          </a:prstGeom>
          <a:noFill/>
        </p:spPr>
        <p:txBody>
          <a:bodyPr wrap="square" rtlCol="0">
            <a:spAutoFit/>
          </a:bodyPr>
          <a:lstStyle/>
          <a:p>
            <a:r>
              <a:rPr lang="ro-RO" dirty="0"/>
              <a:t>	Pentru dezvoltarea aplicației s-a folosit o arhitectură full-</a:t>
            </a:r>
            <a:r>
              <a:rPr lang="ro-RO" dirty="0" err="1"/>
              <a:t>stack</a:t>
            </a:r>
            <a:r>
              <a:rPr lang="ro-RO" dirty="0"/>
              <a:t>, care permite o separare clară între </a:t>
            </a:r>
            <a:r>
              <a:rPr lang="ro-RO" dirty="0" err="1"/>
              <a:t>backend</a:t>
            </a:r>
            <a:r>
              <a:rPr lang="ro-RO" dirty="0"/>
              <a:t>, logica aplicației și </a:t>
            </a:r>
            <a:r>
              <a:rPr lang="ro-RO" dirty="0" err="1"/>
              <a:t>frontend</a:t>
            </a:r>
            <a:r>
              <a:rPr lang="ro-RO" dirty="0"/>
              <a:t>, interfața cu utilizatorul. </a:t>
            </a:r>
            <a:r>
              <a:rPr lang="ro-RO" dirty="0" err="1"/>
              <a:t>Backend-ul</a:t>
            </a:r>
            <a:r>
              <a:rPr lang="ro-RO" dirty="0"/>
              <a:t> este bazat pe </a:t>
            </a:r>
            <a:r>
              <a:rPr lang="ro-RO" b="1" dirty="0"/>
              <a:t>ASP.NET</a:t>
            </a:r>
            <a:r>
              <a:rPr lang="ro-RO" dirty="0"/>
              <a:t>, iar </a:t>
            </a:r>
            <a:r>
              <a:rPr lang="ro-RO" dirty="0" err="1"/>
              <a:t>frontend-ul</a:t>
            </a:r>
            <a:r>
              <a:rPr lang="ro-RO" dirty="0"/>
              <a:t> pe </a:t>
            </a:r>
            <a:r>
              <a:rPr lang="ro-RO" b="1" dirty="0" err="1"/>
              <a:t>React</a:t>
            </a:r>
            <a:r>
              <a:rPr lang="ro-RO" dirty="0"/>
              <a:t> cu </a:t>
            </a:r>
            <a:r>
              <a:rPr lang="ro-RO" b="1" dirty="0" err="1"/>
              <a:t>Typescript</a:t>
            </a:r>
            <a:r>
              <a:rPr lang="ro-RO" dirty="0"/>
              <a:t>. Pentru baza de date s-a folosit </a:t>
            </a:r>
            <a:r>
              <a:rPr lang="ro-RO" b="1" dirty="0" err="1"/>
              <a:t>SQLite</a:t>
            </a:r>
            <a:r>
              <a:rPr lang="ro-RO" dirty="0"/>
              <a:t>, </a:t>
            </a:r>
            <a:r>
              <a:rPr lang="ro-RO" dirty="0" err="1"/>
              <a:t>Frontend-ul</a:t>
            </a:r>
            <a:r>
              <a:rPr lang="ro-RO" dirty="0"/>
              <a:t> și </a:t>
            </a:r>
            <a:r>
              <a:rPr lang="ro-RO" dirty="0" err="1"/>
              <a:t>Backend-ul</a:t>
            </a:r>
            <a:r>
              <a:rPr lang="ro-RO" dirty="0"/>
              <a:t> comunică printr-o configurație </a:t>
            </a:r>
            <a:r>
              <a:rPr lang="ro-RO" dirty="0" err="1"/>
              <a:t>proxy</a:t>
            </a:r>
            <a:r>
              <a:rPr lang="ro-RO" dirty="0"/>
              <a:t> realizată cu </a:t>
            </a:r>
            <a:r>
              <a:rPr lang="ro-RO" b="1" dirty="0"/>
              <a:t>Vite</a:t>
            </a:r>
            <a:r>
              <a:rPr lang="ro-RO" dirty="0"/>
              <a:t>.</a:t>
            </a:r>
          </a:p>
        </p:txBody>
      </p:sp>
    </p:spTree>
    <p:extLst>
      <p:ext uri="{BB962C8B-B14F-4D97-AF65-F5344CB8AC3E}">
        <p14:creationId xmlns:p14="http://schemas.microsoft.com/office/powerpoint/2010/main" val="2015466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5268C-FB9C-6898-0296-2FECD5D146AC}"/>
              </a:ext>
            </a:extLst>
          </p:cNvPr>
          <p:cNvSpPr>
            <a:spLocks noGrp="1"/>
          </p:cNvSpPr>
          <p:nvPr>
            <p:ph type="title"/>
          </p:nvPr>
        </p:nvSpPr>
        <p:spPr/>
        <p:txBody>
          <a:bodyPr/>
          <a:lstStyle/>
          <a:p>
            <a:r>
              <a:rPr lang="ro-RO" dirty="0" err="1"/>
              <a:t>Backend</a:t>
            </a:r>
            <a:endParaRPr lang="ro-RO" dirty="0"/>
          </a:p>
        </p:txBody>
      </p:sp>
      <p:sp>
        <p:nvSpPr>
          <p:cNvPr id="3" name="Content Placeholder 2">
            <a:extLst>
              <a:ext uri="{FF2B5EF4-FFF2-40B4-BE49-F238E27FC236}">
                <a16:creationId xmlns:a16="http://schemas.microsoft.com/office/drawing/2014/main" id="{DAB274B1-6645-5363-B64C-EF6486E1B6CA}"/>
              </a:ext>
            </a:extLst>
          </p:cNvPr>
          <p:cNvSpPr>
            <a:spLocks noGrp="1"/>
          </p:cNvSpPr>
          <p:nvPr>
            <p:ph idx="1"/>
          </p:nvPr>
        </p:nvSpPr>
        <p:spPr/>
        <p:txBody>
          <a:bodyPr/>
          <a:lstStyle/>
          <a:p>
            <a:pPr marL="201168" lvl="1" indent="0">
              <a:buNone/>
            </a:pPr>
            <a:r>
              <a:rPr lang="ro-RO" dirty="0"/>
              <a:t>	</a:t>
            </a:r>
            <a:r>
              <a:rPr lang="ro-RO" dirty="0" err="1"/>
              <a:t>Backend-ul</a:t>
            </a:r>
            <a:r>
              <a:rPr lang="ro-RO" dirty="0"/>
              <a:t> folosește .NET Core și .NET 8 pentru o dezvoltare eficientă a unui API REST. Baza de date este integrată folosind Microsoft </a:t>
            </a:r>
            <a:r>
              <a:rPr lang="ro-RO" dirty="0" err="1"/>
              <a:t>Entity</a:t>
            </a:r>
            <a:r>
              <a:rPr lang="ro-RO" dirty="0"/>
              <a:t> Framework Core, care oferă maparea obiect-relațională și scrierea de interogări. Pentru autentificare și securitate, s-a folosit JWT. Se stochează capturi ale scenelor create de utilizatori pentru folosirea lor pe </a:t>
            </a:r>
            <a:r>
              <a:rPr lang="ro-RO" dirty="0" err="1"/>
              <a:t>frontend</a:t>
            </a:r>
            <a:r>
              <a:rPr lang="ro-RO" dirty="0"/>
              <a:t>. Ele sunt generate de client, trimise către server printr-un </a:t>
            </a:r>
            <a:r>
              <a:rPr lang="ro-RO" dirty="0" err="1"/>
              <a:t>dataURL</a:t>
            </a:r>
            <a:r>
              <a:rPr lang="ro-RO" dirty="0"/>
              <a:t>, și stocate într-un folder al server-ului.</a:t>
            </a:r>
          </a:p>
          <a:p>
            <a:pPr marL="201168" lvl="1" indent="0">
              <a:buNone/>
            </a:pPr>
            <a:r>
              <a:rPr lang="ro-RO" dirty="0"/>
              <a:t>	Structura aplicației respectă principiile arhitecturii de tip </a:t>
            </a:r>
            <a:r>
              <a:rPr lang="ro-RO" dirty="0" err="1"/>
              <a:t>microservicii</a:t>
            </a:r>
            <a:r>
              <a:rPr lang="ro-RO" dirty="0"/>
              <a:t>, fiind o separare clară între controllere, servicii, și stratul de acces a datelor. S-a utilizat </a:t>
            </a:r>
            <a:r>
              <a:rPr lang="ro-RO" dirty="0" err="1"/>
              <a:t>Dependency</a:t>
            </a:r>
            <a:r>
              <a:rPr lang="ro-RO" dirty="0"/>
              <a:t> </a:t>
            </a:r>
            <a:r>
              <a:rPr lang="ro-RO" dirty="0" err="1"/>
              <a:t>Injection</a:t>
            </a:r>
            <a:r>
              <a:rPr lang="ro-RO" dirty="0"/>
              <a:t> pentru injectarea serviciilor în controllere, precum cele deja existente, ca </a:t>
            </a:r>
            <a:r>
              <a:rPr lang="ro-RO" dirty="0" err="1"/>
              <a:t>IdentityDbContext</a:t>
            </a:r>
            <a:r>
              <a:rPr lang="ro-RO" dirty="0"/>
              <a:t> pentru folosirea bazei de date, dar și cele create, precum </a:t>
            </a:r>
            <a:r>
              <a:rPr lang="ro-RO" dirty="0" err="1"/>
              <a:t>JwtTokenService</a:t>
            </a:r>
            <a:r>
              <a:rPr lang="ro-RO" dirty="0"/>
              <a:t>, un </a:t>
            </a:r>
            <a:r>
              <a:rPr lang="ro-RO" dirty="0" err="1"/>
              <a:t>wrapper</a:t>
            </a:r>
            <a:r>
              <a:rPr lang="ro-RO" dirty="0"/>
              <a:t> pentru folosirea mai ușoară a JWT-urilor.</a:t>
            </a:r>
          </a:p>
          <a:p>
            <a:pPr marL="201168" lvl="1" indent="0">
              <a:buNone/>
            </a:pPr>
            <a:r>
              <a:rPr lang="ro-RO" dirty="0"/>
              <a:t>	Toate </a:t>
            </a:r>
            <a:r>
              <a:rPr lang="ro-RO" dirty="0" err="1"/>
              <a:t>endpoint</a:t>
            </a:r>
            <a:r>
              <a:rPr lang="ro-RO" dirty="0"/>
              <a:t>-urile ale aplicației au fost expuse prin intermediul lui </a:t>
            </a:r>
            <a:r>
              <a:rPr lang="ro-RO" dirty="0" err="1"/>
              <a:t>Swagger</a:t>
            </a:r>
            <a:r>
              <a:rPr lang="ro-RO" dirty="0"/>
              <a:t>, pentru vizualizarea și testarea cu ușurință a API-urilor.</a:t>
            </a:r>
          </a:p>
        </p:txBody>
      </p:sp>
    </p:spTree>
    <p:extLst>
      <p:ext uri="{BB962C8B-B14F-4D97-AF65-F5344CB8AC3E}">
        <p14:creationId xmlns:p14="http://schemas.microsoft.com/office/powerpoint/2010/main" val="3032845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83CDA-C958-722C-49DE-D48426A4F504}"/>
              </a:ext>
            </a:extLst>
          </p:cNvPr>
          <p:cNvSpPr>
            <a:spLocks noGrp="1"/>
          </p:cNvSpPr>
          <p:nvPr>
            <p:ph type="title"/>
          </p:nvPr>
        </p:nvSpPr>
        <p:spPr/>
        <p:txBody>
          <a:bodyPr/>
          <a:lstStyle/>
          <a:p>
            <a:r>
              <a:rPr lang="ro-RO" dirty="0" err="1"/>
              <a:t>Frontend</a:t>
            </a:r>
            <a:endParaRPr lang="ro-RO" dirty="0"/>
          </a:p>
        </p:txBody>
      </p:sp>
      <p:sp>
        <p:nvSpPr>
          <p:cNvPr id="3" name="Content Placeholder 2">
            <a:extLst>
              <a:ext uri="{FF2B5EF4-FFF2-40B4-BE49-F238E27FC236}">
                <a16:creationId xmlns:a16="http://schemas.microsoft.com/office/drawing/2014/main" id="{D2AEE078-C39A-7E63-B2DD-DAFC9BEB592A}"/>
              </a:ext>
            </a:extLst>
          </p:cNvPr>
          <p:cNvSpPr>
            <a:spLocks noGrp="1"/>
          </p:cNvSpPr>
          <p:nvPr>
            <p:ph idx="1"/>
          </p:nvPr>
        </p:nvSpPr>
        <p:spPr/>
        <p:txBody>
          <a:bodyPr/>
          <a:lstStyle/>
          <a:p>
            <a:pPr marL="201168" lvl="1" indent="0">
              <a:buNone/>
            </a:pPr>
            <a:r>
              <a:rPr lang="ro-RO" dirty="0"/>
              <a:t>	</a:t>
            </a:r>
            <a:r>
              <a:rPr lang="ro-RO" dirty="0" err="1"/>
              <a:t>Frontend-ul</a:t>
            </a:r>
            <a:r>
              <a:rPr lang="ro-RO" dirty="0"/>
              <a:t> este bazat pe or arhitectura SPA (Single Page </a:t>
            </a:r>
            <a:r>
              <a:rPr lang="ro-RO" dirty="0" err="1"/>
              <a:t>Application</a:t>
            </a:r>
            <a:r>
              <a:rPr lang="ro-RO" dirty="0"/>
              <a:t>). Ea este împărțită în componente scalabile, modulare și reutilizabile, cu accent pe un design </a:t>
            </a:r>
            <a:r>
              <a:rPr lang="ro-RO" dirty="0" err="1"/>
              <a:t>responsive</a:t>
            </a:r>
            <a:r>
              <a:rPr lang="ro-RO" dirty="0"/>
              <a:t> și optimizat. Componentele au fost adnotate cu tipuri clare pentru a minimiza erorile de utilizare.</a:t>
            </a:r>
          </a:p>
          <a:p>
            <a:pPr marL="201168" lvl="1" indent="0">
              <a:buNone/>
            </a:pPr>
            <a:r>
              <a:rPr lang="ro-RO" dirty="0"/>
              <a:t>	Paginile principale sunt stocate în </a:t>
            </a:r>
            <a:r>
              <a:rPr lang="ro-RO" dirty="0" err="1"/>
              <a:t>Pages</a:t>
            </a:r>
            <a:r>
              <a:rPr lang="ro-RO" dirty="0"/>
              <a:t>, care sunt asociate fiecărei rute din Router. </a:t>
            </a:r>
            <a:r>
              <a:rPr lang="ro-RO" dirty="0" err="1"/>
              <a:t>Components</a:t>
            </a:r>
            <a:r>
              <a:rPr lang="ro-RO" dirty="0"/>
              <a:t> conține componente mai mici refolosite, ori de singură dată în mai multe pagini, ori de mai multe ori în aceeași pagină.  </a:t>
            </a:r>
            <a:r>
              <a:rPr lang="ro-RO" dirty="0" err="1"/>
              <a:t>Features</a:t>
            </a:r>
            <a:r>
              <a:rPr lang="ro-RO" dirty="0"/>
              <a:t> conține descrieri ale API-ului cu </a:t>
            </a:r>
            <a:r>
              <a:rPr lang="ro-RO" dirty="0" err="1"/>
              <a:t>backend-ul</a:t>
            </a:r>
            <a:r>
              <a:rPr lang="ro-RO" dirty="0"/>
              <a:t>, descrieri de tipuri, sau componente logice.</a:t>
            </a:r>
          </a:p>
          <a:p>
            <a:pPr marL="201168" lvl="1" indent="0">
              <a:buNone/>
            </a:pPr>
            <a:r>
              <a:rPr lang="ro-RO" dirty="0"/>
              <a:t>	În cookie-uri sunt stocate informații despre sesiunea curentă JWT, astfel încât utilizatorul poate să intre în platformă fără să trebuiască să se </a:t>
            </a:r>
            <a:r>
              <a:rPr lang="ro-RO" dirty="0" err="1"/>
              <a:t>logeze</a:t>
            </a:r>
            <a:r>
              <a:rPr lang="ro-RO" dirty="0"/>
              <a:t> de fiecare dată. Este reținută și scena la care lucra, astfel încât poată continua direct de unde s-a oprit.</a:t>
            </a:r>
          </a:p>
        </p:txBody>
      </p:sp>
    </p:spTree>
    <p:extLst>
      <p:ext uri="{BB962C8B-B14F-4D97-AF65-F5344CB8AC3E}">
        <p14:creationId xmlns:p14="http://schemas.microsoft.com/office/powerpoint/2010/main" val="874728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C0D12-7E86-CE28-BDD6-9D435BA5A47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B9D6074-8AC7-644D-CF1B-FDF611493E22}"/>
              </a:ext>
            </a:extLst>
          </p:cNvPr>
          <p:cNvSpPr>
            <a:spLocks noGrp="1"/>
          </p:cNvSpPr>
          <p:nvPr>
            <p:ph type="title"/>
          </p:nvPr>
        </p:nvSpPr>
        <p:spPr/>
        <p:txBody>
          <a:bodyPr/>
          <a:lstStyle/>
          <a:p>
            <a:r>
              <a:rPr lang="ro-RO" dirty="0"/>
              <a:t>Baza de date</a:t>
            </a:r>
          </a:p>
        </p:txBody>
      </p:sp>
      <p:sp>
        <p:nvSpPr>
          <p:cNvPr id="12" name="TextBox 11">
            <a:extLst>
              <a:ext uri="{FF2B5EF4-FFF2-40B4-BE49-F238E27FC236}">
                <a16:creationId xmlns:a16="http://schemas.microsoft.com/office/drawing/2014/main" id="{5F0D9245-A56B-E28A-2D7A-DDA34757ED5B}"/>
              </a:ext>
            </a:extLst>
          </p:cNvPr>
          <p:cNvSpPr txBox="1"/>
          <p:nvPr/>
        </p:nvSpPr>
        <p:spPr>
          <a:xfrm>
            <a:off x="135467" y="5201920"/>
            <a:ext cx="11982026" cy="1200329"/>
          </a:xfrm>
          <a:prstGeom prst="rect">
            <a:avLst/>
          </a:prstGeom>
          <a:noFill/>
        </p:spPr>
        <p:txBody>
          <a:bodyPr wrap="square" rtlCol="0">
            <a:spAutoFit/>
          </a:bodyPr>
          <a:lstStyle/>
          <a:p>
            <a:r>
              <a:rPr lang="ro-RO" dirty="0"/>
              <a:t>	Baza de date relațională este implementată în </a:t>
            </a:r>
            <a:r>
              <a:rPr lang="ro-RO" dirty="0" err="1"/>
              <a:t>SQLite</a:t>
            </a:r>
            <a:r>
              <a:rPr lang="ro-RO" dirty="0"/>
              <a:t> și este gestionată prin </a:t>
            </a:r>
            <a:r>
              <a:rPr lang="ro-RO" dirty="0" err="1"/>
              <a:t>Entity</a:t>
            </a:r>
            <a:r>
              <a:rPr lang="ro-RO" dirty="0"/>
              <a:t> Framework Core. Modelul ERD este compus din 8 tabele relaționale, conținând entitățile: </a:t>
            </a:r>
            <a:r>
              <a:rPr lang="ro-RO" dirty="0" err="1"/>
              <a:t>Users</a:t>
            </a:r>
            <a:r>
              <a:rPr lang="ro-RO" dirty="0"/>
              <a:t> (în implementare fiind </a:t>
            </a:r>
            <a:r>
              <a:rPr lang="ro-RO" dirty="0" err="1"/>
              <a:t>AspNetUsers</a:t>
            </a:r>
            <a:r>
              <a:rPr lang="ro-RO" dirty="0"/>
              <a:t>), </a:t>
            </a:r>
            <a:r>
              <a:rPr lang="ro-RO" dirty="0" err="1"/>
              <a:t>GraphScenes</a:t>
            </a:r>
            <a:r>
              <a:rPr lang="ro-RO" dirty="0"/>
              <a:t>, </a:t>
            </a:r>
            <a:r>
              <a:rPr lang="ro-RO" dirty="0" err="1"/>
              <a:t>GraphSceneVersions</a:t>
            </a:r>
            <a:r>
              <a:rPr lang="ro-RO" dirty="0"/>
              <a:t>, </a:t>
            </a:r>
            <a:r>
              <a:rPr lang="ro-RO" dirty="0" err="1"/>
              <a:t>Posts</a:t>
            </a:r>
            <a:r>
              <a:rPr lang="ro-RO" dirty="0"/>
              <a:t>, </a:t>
            </a:r>
            <a:r>
              <a:rPr lang="ro-RO" dirty="0" err="1"/>
              <a:t>PostLikes</a:t>
            </a:r>
            <a:r>
              <a:rPr lang="ro-RO" dirty="0"/>
              <a:t>, </a:t>
            </a:r>
            <a:r>
              <a:rPr lang="ro-RO" dirty="0" err="1"/>
              <a:t>Comments</a:t>
            </a:r>
            <a:r>
              <a:rPr lang="ro-RO" dirty="0"/>
              <a:t>, </a:t>
            </a:r>
            <a:r>
              <a:rPr lang="ro-RO" dirty="0" err="1"/>
              <a:t>Reports</a:t>
            </a:r>
            <a:r>
              <a:rPr lang="ro-RO" dirty="0"/>
              <a:t>, </a:t>
            </a:r>
            <a:r>
              <a:rPr lang="ro-RO" dirty="0" err="1"/>
              <a:t>Bans</a:t>
            </a:r>
            <a:r>
              <a:rPr lang="ro-RO" dirty="0"/>
              <a:t>. Există și entități create de modelul de </a:t>
            </a:r>
            <a:r>
              <a:rPr lang="ro-RO" dirty="0" err="1"/>
              <a:t>Identity</a:t>
            </a:r>
            <a:r>
              <a:rPr lang="ro-RO" dirty="0"/>
              <a:t> pentru stocarea și asocierea rolurilor utilizatorilor.</a:t>
            </a:r>
          </a:p>
        </p:txBody>
      </p:sp>
      <p:pic>
        <p:nvPicPr>
          <p:cNvPr id="5" name="Content Placeholder 4">
            <a:extLst>
              <a:ext uri="{FF2B5EF4-FFF2-40B4-BE49-F238E27FC236}">
                <a16:creationId xmlns:a16="http://schemas.microsoft.com/office/drawing/2014/main" id="{914B00DF-F077-1FB8-64CA-D31A55146E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42183" y="1846264"/>
            <a:ext cx="3507634" cy="2960898"/>
          </a:xfrm>
          <a:prstGeom prst="rect">
            <a:avLst/>
          </a:prstGeom>
        </p:spPr>
      </p:pic>
    </p:spTree>
    <p:extLst>
      <p:ext uri="{BB962C8B-B14F-4D97-AF65-F5344CB8AC3E}">
        <p14:creationId xmlns:p14="http://schemas.microsoft.com/office/powerpoint/2010/main" val="2953124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B4C7B3-FDB5-4CE2-C8B5-45219D6AF290}"/>
              </a:ext>
            </a:extLst>
          </p:cNvPr>
          <p:cNvSpPr>
            <a:spLocks noGrp="1"/>
          </p:cNvSpPr>
          <p:nvPr>
            <p:ph type="title"/>
          </p:nvPr>
        </p:nvSpPr>
        <p:spPr/>
        <p:txBody>
          <a:bodyPr/>
          <a:lstStyle/>
          <a:p>
            <a:r>
              <a:rPr lang="ro-RO" dirty="0"/>
              <a:t>Interfața de </a:t>
            </a:r>
            <a:r>
              <a:rPr lang="ro-RO" dirty="0" err="1"/>
              <a:t>grafare</a:t>
            </a:r>
            <a:endParaRPr lang="ro-RO" dirty="0"/>
          </a:p>
        </p:txBody>
      </p:sp>
      <p:pic>
        <p:nvPicPr>
          <p:cNvPr id="8" name="Content Placeholder 7">
            <a:extLst>
              <a:ext uri="{FF2B5EF4-FFF2-40B4-BE49-F238E27FC236}">
                <a16:creationId xmlns:a16="http://schemas.microsoft.com/office/drawing/2014/main" id="{E7BD7F52-E291-D418-20A3-AB5AF0C6EE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35638" y="1106905"/>
            <a:ext cx="8056362" cy="4604084"/>
          </a:xfrm>
          <a:prstGeom prst="rect">
            <a:avLst/>
          </a:prstGeom>
        </p:spPr>
      </p:pic>
      <p:sp>
        <p:nvSpPr>
          <p:cNvPr id="6" name="Text Placeholder 5">
            <a:extLst>
              <a:ext uri="{FF2B5EF4-FFF2-40B4-BE49-F238E27FC236}">
                <a16:creationId xmlns:a16="http://schemas.microsoft.com/office/drawing/2014/main" id="{72AD7223-4ECA-887E-11A2-A354E80BECBC}"/>
              </a:ext>
            </a:extLst>
          </p:cNvPr>
          <p:cNvSpPr>
            <a:spLocks noGrp="1"/>
          </p:cNvSpPr>
          <p:nvPr>
            <p:ph type="body" sz="half" idx="2"/>
          </p:nvPr>
        </p:nvSpPr>
        <p:spPr/>
        <p:txBody>
          <a:bodyPr>
            <a:normAutofit/>
          </a:bodyPr>
          <a:lstStyle/>
          <a:p>
            <a:r>
              <a:rPr lang="ro-RO" sz="1800" dirty="0"/>
              <a:t>Interfața de </a:t>
            </a:r>
            <a:r>
              <a:rPr lang="ro-RO" sz="1800" dirty="0" err="1"/>
              <a:t>grafare</a:t>
            </a:r>
            <a:r>
              <a:rPr lang="ro-RO" sz="1800" dirty="0"/>
              <a:t> este </a:t>
            </a:r>
            <a:r>
              <a:rPr lang="ro-RO" sz="1800" b="1" dirty="0"/>
              <a:t>centrul vizual și matematic</a:t>
            </a:r>
            <a:r>
              <a:rPr lang="ro-RO" sz="1800" dirty="0"/>
              <a:t> al proiectului. Este implementată ca o componentă </a:t>
            </a:r>
            <a:r>
              <a:rPr lang="ro-RO" sz="1800" dirty="0" err="1"/>
              <a:t>React</a:t>
            </a:r>
            <a:r>
              <a:rPr lang="ro-RO" sz="1800" dirty="0"/>
              <a:t>, dar comportamentul ei este mai similar cu un </a:t>
            </a:r>
            <a:r>
              <a:rPr lang="ro-RO" sz="1800" dirty="0" err="1"/>
              <a:t>engine</a:t>
            </a:r>
            <a:r>
              <a:rPr lang="ro-RO" sz="1800" dirty="0"/>
              <a:t> mic de </a:t>
            </a:r>
            <a:r>
              <a:rPr lang="ro-RO" sz="1800" dirty="0" err="1"/>
              <a:t>randare</a:t>
            </a:r>
            <a:r>
              <a:rPr lang="ro-RO" sz="1800" dirty="0"/>
              <a:t>: acceptă expresii matematice simbolice, le compilează, ia </a:t>
            </a:r>
            <a:r>
              <a:rPr lang="ro-RO" sz="1800" dirty="0" err="1"/>
              <a:t>sample</a:t>
            </a:r>
            <a:r>
              <a:rPr lang="ro-RO" sz="1800" dirty="0"/>
              <a:t>-uri peste un domeniu, le transformă în geometrii </a:t>
            </a:r>
            <a:r>
              <a:rPr lang="ro-RO" sz="1800" b="1" dirty="0"/>
              <a:t>Three.js </a:t>
            </a:r>
            <a:r>
              <a:rPr lang="ro-RO" sz="1800" dirty="0"/>
              <a:t>și apoi le </a:t>
            </a:r>
            <a:r>
              <a:rPr lang="ro-RO" sz="1800" dirty="0" err="1"/>
              <a:t>randează</a:t>
            </a:r>
            <a:r>
              <a:rPr lang="ro-RO" sz="1800" dirty="0"/>
              <a:t> într-o scenă 3D live.</a:t>
            </a:r>
          </a:p>
        </p:txBody>
      </p:sp>
    </p:spTree>
    <p:extLst>
      <p:ext uri="{BB962C8B-B14F-4D97-AF65-F5344CB8AC3E}">
        <p14:creationId xmlns:p14="http://schemas.microsoft.com/office/powerpoint/2010/main" val="371149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5458BC-C75F-51C1-77A3-80BB9660730E}"/>
              </a:ext>
            </a:extLst>
          </p:cNvPr>
          <p:cNvSpPr>
            <a:spLocks noGrp="1"/>
          </p:cNvSpPr>
          <p:nvPr>
            <p:ph type="title"/>
          </p:nvPr>
        </p:nvSpPr>
        <p:spPr/>
        <p:txBody>
          <a:bodyPr/>
          <a:lstStyle/>
          <a:p>
            <a:r>
              <a:rPr lang="ro-RO" dirty="0"/>
              <a:t>Interfața de </a:t>
            </a:r>
            <a:r>
              <a:rPr lang="ro-RO" dirty="0" err="1"/>
              <a:t>grafare</a:t>
            </a:r>
            <a:r>
              <a:rPr lang="ro-RO" dirty="0"/>
              <a:t> (cont.)</a:t>
            </a:r>
          </a:p>
        </p:txBody>
      </p:sp>
      <p:sp>
        <p:nvSpPr>
          <p:cNvPr id="6" name="Content Placeholder 5">
            <a:extLst>
              <a:ext uri="{FF2B5EF4-FFF2-40B4-BE49-F238E27FC236}">
                <a16:creationId xmlns:a16="http://schemas.microsoft.com/office/drawing/2014/main" id="{28D00955-DC0E-21DA-0D9D-F93D81F38010}"/>
              </a:ext>
            </a:extLst>
          </p:cNvPr>
          <p:cNvSpPr>
            <a:spLocks noGrp="1"/>
          </p:cNvSpPr>
          <p:nvPr>
            <p:ph idx="1"/>
          </p:nvPr>
        </p:nvSpPr>
        <p:spPr/>
        <p:txBody>
          <a:bodyPr/>
          <a:lstStyle/>
          <a:p>
            <a:pPr marL="201168" lvl="1" indent="0">
              <a:buNone/>
            </a:pPr>
            <a:r>
              <a:rPr lang="ro-RO" dirty="0"/>
              <a:t>	S-au mai folosit </a:t>
            </a:r>
            <a:r>
              <a:rPr lang="ro-RO" b="1" dirty="0"/>
              <a:t>Three.js/</a:t>
            </a:r>
            <a:r>
              <a:rPr lang="ro-RO" b="1" dirty="0" err="1"/>
              <a:t>fiber</a:t>
            </a:r>
            <a:r>
              <a:rPr lang="ro-RO" dirty="0"/>
              <a:t> care oferă o interfață de folosire a lui Three.js cu </a:t>
            </a:r>
            <a:r>
              <a:rPr lang="ro-RO" dirty="0" err="1"/>
              <a:t>React</a:t>
            </a:r>
            <a:r>
              <a:rPr lang="ro-RO" dirty="0"/>
              <a:t>, </a:t>
            </a:r>
            <a:r>
              <a:rPr lang="ro-RO" b="1" dirty="0"/>
              <a:t>Three.js/drei</a:t>
            </a:r>
            <a:r>
              <a:rPr lang="ro-RO" dirty="0"/>
              <a:t> care oferă un controler pentru cameră, </a:t>
            </a:r>
            <a:r>
              <a:rPr lang="ro-RO" b="1" dirty="0" err="1"/>
              <a:t>mathjs</a:t>
            </a:r>
            <a:r>
              <a:rPr lang="ro-RO" dirty="0"/>
              <a:t> care este folosit ca </a:t>
            </a:r>
            <a:r>
              <a:rPr lang="ro-RO" dirty="0" err="1"/>
              <a:t>engine</a:t>
            </a:r>
            <a:r>
              <a:rPr lang="ro-RO" dirty="0"/>
              <a:t> de </a:t>
            </a:r>
            <a:r>
              <a:rPr lang="ro-RO" dirty="0" err="1"/>
              <a:t>parsare</a:t>
            </a:r>
            <a:r>
              <a:rPr lang="ro-RO" dirty="0"/>
              <a:t> și compilare a expresiilor matematice, și în final </a:t>
            </a:r>
            <a:r>
              <a:rPr lang="ro-RO" b="1" dirty="0" err="1"/>
              <a:t>isosurface</a:t>
            </a:r>
            <a:r>
              <a:rPr lang="ro-RO" dirty="0"/>
              <a:t> care oferă capabilitățile pentru </a:t>
            </a:r>
            <a:r>
              <a:rPr lang="ro-RO" dirty="0" err="1"/>
              <a:t>randarea</a:t>
            </a:r>
            <a:r>
              <a:rPr lang="ro-RO" dirty="0"/>
              <a:t> eficientă a suprafețelor grafurilor</a:t>
            </a:r>
          </a:p>
          <a:p>
            <a:pPr marL="201168" lvl="1" indent="0">
              <a:buNone/>
            </a:pPr>
            <a:r>
              <a:rPr lang="ro-RO" dirty="0"/>
              <a:t>	Sunt suportate trei tipuri de grafuri: explicite (𝑧 = 𝑓(𝑥, 𝑦)), implicite (𝐹(𝑥, 𝑦, 𝑧) = 0) și parametrice ((𝑥(𝑢, 𝑣), 𝑦(𝑢, 𝑣), 𝑧(𝑢, 𝑣))).</a:t>
            </a:r>
          </a:p>
          <a:p>
            <a:pPr marL="201168" lvl="1" indent="0">
              <a:buNone/>
            </a:pPr>
            <a:r>
              <a:rPr lang="ro-RO" b="1" dirty="0"/>
              <a:t>	</a:t>
            </a:r>
            <a:r>
              <a:rPr lang="ro-RO" dirty="0"/>
              <a:t>Suprafețele explicite sunt </a:t>
            </a:r>
            <a:r>
              <a:rPr lang="ro-RO" dirty="0" err="1"/>
              <a:t>randate</a:t>
            </a:r>
            <a:r>
              <a:rPr lang="ro-RO" dirty="0"/>
              <a:t> folosind </a:t>
            </a:r>
            <a:r>
              <a:rPr lang="ro-RO" dirty="0" err="1"/>
              <a:t>THREE.PlaneGeometry</a:t>
            </a:r>
            <a:r>
              <a:rPr lang="ro-RO" dirty="0"/>
              <a:t>. Expresiile parametrice, de asemenea, folosesc un plan, dar planul este folosit ca un domeniu pentru parametri, din care pozițiile 3D sunt alese.</a:t>
            </a:r>
          </a:p>
          <a:p>
            <a:pPr marL="201168" lvl="1" indent="0">
              <a:buNone/>
            </a:pPr>
            <a:r>
              <a:rPr lang="ro-RO" b="1" dirty="0"/>
              <a:t>	</a:t>
            </a:r>
            <a:r>
              <a:rPr lang="ro-RO" dirty="0"/>
              <a:t>Expresiile implicite </a:t>
            </a:r>
            <a:r>
              <a:rPr lang="ro-RO" dirty="0" err="1"/>
              <a:t>foloresc</a:t>
            </a:r>
            <a:r>
              <a:rPr lang="ro-RO" dirty="0"/>
              <a:t> algoritmul </a:t>
            </a:r>
            <a:r>
              <a:rPr lang="ro-RO" b="1" dirty="0" err="1"/>
              <a:t>Marching</a:t>
            </a:r>
            <a:r>
              <a:rPr lang="ro-RO" b="1" dirty="0"/>
              <a:t> </a:t>
            </a:r>
            <a:r>
              <a:rPr lang="ro-RO" b="1" dirty="0" err="1"/>
              <a:t>Cubes</a:t>
            </a:r>
            <a:r>
              <a:rPr lang="ro-RO" dirty="0"/>
              <a:t>.</a:t>
            </a:r>
            <a:endParaRPr lang="ro-RO" b="1" dirty="0"/>
          </a:p>
        </p:txBody>
      </p:sp>
    </p:spTree>
    <p:extLst>
      <p:ext uri="{BB962C8B-B14F-4D97-AF65-F5344CB8AC3E}">
        <p14:creationId xmlns:p14="http://schemas.microsoft.com/office/powerpoint/2010/main" val="489529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F981E-6E67-E30D-E8B4-1F015A570B80}"/>
              </a:ext>
            </a:extLst>
          </p:cNvPr>
          <p:cNvSpPr>
            <a:spLocks noGrp="1"/>
          </p:cNvSpPr>
          <p:nvPr>
            <p:ph type="title"/>
          </p:nvPr>
        </p:nvSpPr>
        <p:spPr/>
        <p:txBody>
          <a:bodyPr/>
          <a:lstStyle/>
          <a:p>
            <a:r>
              <a:rPr lang="ro-RO" dirty="0" err="1"/>
              <a:t>Marching</a:t>
            </a:r>
            <a:r>
              <a:rPr lang="ro-RO" dirty="0"/>
              <a:t> </a:t>
            </a:r>
            <a:r>
              <a:rPr lang="ro-RO" dirty="0" err="1"/>
              <a:t>Cubes</a:t>
            </a:r>
            <a:endParaRPr lang="ro-RO"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B444067-6BDF-894C-EFDC-0813DED9361E}"/>
                  </a:ext>
                </a:extLst>
              </p:cNvPr>
              <p:cNvSpPr>
                <a:spLocks noGrp="1"/>
              </p:cNvSpPr>
              <p:nvPr>
                <p:ph idx="1"/>
              </p:nvPr>
            </p:nvSpPr>
            <p:spPr>
              <a:gradFill>
                <a:gsLst>
                  <a:gs pos="67000">
                    <a:schemeClr val="accent1">
                      <a:lumMod val="5000"/>
                      <a:lumOff val="95000"/>
                    </a:schemeClr>
                  </a:gs>
                  <a:gs pos="24000">
                    <a:schemeClr val="accent1">
                      <a:lumMod val="30000"/>
                      <a:lumOff val="70000"/>
                      <a:alpha val="0"/>
                    </a:schemeClr>
                  </a:gs>
                </a:gsLst>
                <a:lin ang="5400000" scaled="1"/>
              </a:gradFill>
            </p:spPr>
            <p:txBody>
              <a:bodyPr/>
              <a:lstStyle/>
              <a:p>
                <a:pPr marL="201168" lvl="1" indent="0">
                  <a:buNone/>
                </a:pPr>
                <a:r>
                  <a:rPr lang="ro-RO" dirty="0"/>
                  <a:t>	Algoritmul tratează un spațiu 3D ca un </a:t>
                </a:r>
                <a:r>
                  <a:rPr lang="ro-RO" dirty="0" err="1"/>
                  <a:t>grid</a:t>
                </a:r>
                <a:r>
                  <a:rPr lang="ro-RO" dirty="0"/>
                  <a:t> de cuburi mici. Fiecare colț a unui cub are o valoare scalară, calculată prin evaluarea lui 𝐹(𝑥, 𝑦, 𝑧), formula pentru suprafața implicită. Pentru fiecare cub, algoritmul verifică dacă fiecare dintre cele 8 colțuri este înăuntru sau în afara suprafeței, comparând valorile scalare cu zero. Asta creează </a:t>
                </a:r>
                <a14:m>
                  <m:oMath xmlns:m="http://schemas.openxmlformats.org/officeDocument/2006/math">
                    <m:sSup>
                      <m:sSupPr>
                        <m:ctrlPr>
                          <a:rPr lang="ro-RO" b="0" i="1" smtClean="0">
                            <a:latin typeface="Cambria Math" panose="02040503050406030204" pitchFamily="18" charset="0"/>
                          </a:rPr>
                        </m:ctrlPr>
                      </m:sSupPr>
                      <m:e>
                        <m:r>
                          <a:rPr lang="ro-RO" b="0" i="1" smtClean="0">
                            <a:latin typeface="Cambria Math" panose="02040503050406030204" pitchFamily="18" charset="0"/>
                          </a:rPr>
                          <m:t>2</m:t>
                        </m:r>
                      </m:e>
                      <m:sup>
                        <m:r>
                          <a:rPr lang="ro-RO" b="0" i="1" smtClean="0">
                            <a:latin typeface="Cambria Math" panose="02040503050406030204" pitchFamily="18" charset="0"/>
                          </a:rPr>
                          <m:t>8</m:t>
                        </m:r>
                      </m:sup>
                    </m:sSup>
                  </m:oMath>
                </a14:m>
                <a:r>
                  <a:rPr lang="ro-RO" dirty="0"/>
                  <a:t> = 256 cazuri posibile, pentru care algoritmul folosește un tabel precalculat care descrie cum să genereze triunghiurile pentru suprafața în acel cub. </a:t>
                </a:r>
              </a:p>
            </p:txBody>
          </p:sp>
        </mc:Choice>
        <mc:Fallback>
          <p:sp>
            <p:nvSpPr>
              <p:cNvPr id="3" name="Content Placeholder 2">
                <a:extLst>
                  <a:ext uri="{FF2B5EF4-FFF2-40B4-BE49-F238E27FC236}">
                    <a16:creationId xmlns:a16="http://schemas.microsoft.com/office/drawing/2014/main" id="{BB444067-6BDF-894C-EFDC-0813DED9361E}"/>
                  </a:ext>
                </a:extLst>
              </p:cNvPr>
              <p:cNvSpPr>
                <a:spLocks noGrp="1" noRot="1" noChangeAspect="1" noMove="1" noResize="1" noEditPoints="1" noAdjustHandles="1" noChangeArrowheads="1" noChangeShapeType="1" noTextEdit="1"/>
              </p:cNvSpPr>
              <p:nvPr>
                <p:ph idx="1"/>
              </p:nvPr>
            </p:nvSpPr>
            <p:spPr>
              <a:blipFill>
                <a:blip r:embed="rId2"/>
                <a:stretch>
                  <a:fillRect t="-1515"/>
                </a:stretch>
              </a:blipFill>
            </p:spPr>
            <p:txBody>
              <a:bodyPr/>
              <a:lstStyle/>
              <a:p>
                <a:r>
                  <a:rPr lang="ro-RO">
                    <a:noFill/>
                  </a:rPr>
                  <a:t> </a:t>
                </a:r>
              </a:p>
            </p:txBody>
          </p:sp>
        </mc:Fallback>
      </mc:AlternateContent>
      <p:pic>
        <p:nvPicPr>
          <p:cNvPr id="13" name="Picture 12">
            <a:extLst>
              <a:ext uri="{FF2B5EF4-FFF2-40B4-BE49-F238E27FC236}">
                <a16:creationId xmlns:a16="http://schemas.microsoft.com/office/drawing/2014/main" id="{F2C8505F-D5E8-23BA-4268-32FDCCC615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1350" y="3590435"/>
            <a:ext cx="4789300" cy="2278659"/>
          </a:xfrm>
          <a:prstGeom prst="rect">
            <a:avLst/>
          </a:prstGeom>
        </p:spPr>
      </p:pic>
    </p:spTree>
    <p:extLst>
      <p:ext uri="{BB962C8B-B14F-4D97-AF65-F5344CB8AC3E}">
        <p14:creationId xmlns:p14="http://schemas.microsoft.com/office/powerpoint/2010/main" val="681207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6A15AD-67FF-CF01-15C1-933C4262FC6A}"/>
              </a:ext>
            </a:extLst>
          </p:cNvPr>
          <p:cNvSpPr>
            <a:spLocks noGrp="1"/>
          </p:cNvSpPr>
          <p:nvPr>
            <p:ph type="ctrTitle"/>
          </p:nvPr>
        </p:nvSpPr>
        <p:spPr/>
        <p:txBody>
          <a:bodyPr/>
          <a:lstStyle/>
          <a:p>
            <a:r>
              <a:rPr lang="ro-RO" dirty="0" err="1"/>
              <a:t>Funționalități</a:t>
            </a:r>
            <a:r>
              <a:rPr lang="ro-RO" dirty="0"/>
              <a:t> și Roluri</a:t>
            </a:r>
          </a:p>
        </p:txBody>
      </p:sp>
      <p:sp>
        <p:nvSpPr>
          <p:cNvPr id="5" name="Subtitle 4">
            <a:extLst>
              <a:ext uri="{FF2B5EF4-FFF2-40B4-BE49-F238E27FC236}">
                <a16:creationId xmlns:a16="http://schemas.microsoft.com/office/drawing/2014/main" id="{F21BAA2E-8817-BA9B-CA99-44FABD2E5F63}"/>
              </a:ext>
            </a:extLst>
          </p:cNvPr>
          <p:cNvSpPr>
            <a:spLocks noGrp="1"/>
          </p:cNvSpPr>
          <p:nvPr>
            <p:ph type="subTitle" idx="1"/>
          </p:nvPr>
        </p:nvSpPr>
        <p:spPr/>
        <p:txBody>
          <a:bodyPr/>
          <a:lstStyle/>
          <a:p>
            <a:endParaRPr lang="ro-RO"/>
          </a:p>
        </p:txBody>
      </p:sp>
    </p:spTree>
    <p:extLst>
      <p:ext uri="{BB962C8B-B14F-4D97-AF65-F5344CB8AC3E}">
        <p14:creationId xmlns:p14="http://schemas.microsoft.com/office/powerpoint/2010/main" val="145701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C6C7A-6679-5372-8E2F-40DCF06B99BF}"/>
              </a:ext>
            </a:extLst>
          </p:cNvPr>
          <p:cNvSpPr>
            <a:spLocks noGrp="1"/>
          </p:cNvSpPr>
          <p:nvPr>
            <p:ph type="title"/>
          </p:nvPr>
        </p:nvSpPr>
        <p:spPr/>
        <p:txBody>
          <a:bodyPr/>
          <a:lstStyle/>
          <a:p>
            <a:r>
              <a:rPr lang="ro-RO" dirty="0"/>
              <a:t>Roluri</a:t>
            </a:r>
          </a:p>
        </p:txBody>
      </p:sp>
      <p:sp>
        <p:nvSpPr>
          <p:cNvPr id="3" name="Content Placeholder 2">
            <a:extLst>
              <a:ext uri="{FF2B5EF4-FFF2-40B4-BE49-F238E27FC236}">
                <a16:creationId xmlns:a16="http://schemas.microsoft.com/office/drawing/2014/main" id="{8B6ACAF6-9BF2-DBC1-E40C-6B2685E82B53}"/>
              </a:ext>
            </a:extLst>
          </p:cNvPr>
          <p:cNvSpPr>
            <a:spLocks noGrp="1"/>
          </p:cNvSpPr>
          <p:nvPr>
            <p:ph idx="1"/>
          </p:nvPr>
        </p:nvSpPr>
        <p:spPr/>
        <p:txBody>
          <a:bodyPr/>
          <a:lstStyle/>
          <a:p>
            <a:pPr marL="201168" lvl="1" indent="0">
              <a:buNone/>
            </a:pPr>
            <a:r>
              <a:rPr lang="ro-RO" dirty="0"/>
              <a:t>	Aplicația răspunde la nevoile a două categorii distincte principale de </a:t>
            </a:r>
            <a:r>
              <a:rPr lang="ro-RO" dirty="0" err="1"/>
              <a:t>utilzatori</a:t>
            </a:r>
            <a:r>
              <a:rPr lang="ro-RO" dirty="0"/>
              <a:t>: utilizatorii normali și </a:t>
            </a:r>
            <a:r>
              <a:rPr lang="ro-RO" dirty="0" err="1"/>
              <a:t>adminii</a:t>
            </a:r>
            <a:r>
              <a:rPr lang="ro-RO" dirty="0"/>
              <a:t>, împreună cu categoria de utilizator neautentificat.</a:t>
            </a:r>
          </a:p>
          <a:p>
            <a:pPr marL="201168" lvl="1" indent="0">
              <a:buNone/>
            </a:pPr>
            <a:endParaRPr lang="ro-RO" dirty="0"/>
          </a:p>
          <a:p>
            <a:pPr lvl="1"/>
            <a:r>
              <a:rPr lang="ro-RO" b="1" dirty="0"/>
              <a:t>Utilizatorii neautentificați </a:t>
            </a:r>
            <a:r>
              <a:rPr lang="ro-RO" dirty="0"/>
              <a:t>ai acces doar la pagina principală a aplicației, interfața de </a:t>
            </a:r>
            <a:r>
              <a:rPr lang="ro-RO" dirty="0" err="1"/>
              <a:t>grafare</a:t>
            </a:r>
            <a:r>
              <a:rPr lang="ro-RO" dirty="0"/>
              <a:t>, unde ei pot </a:t>
            </a:r>
            <a:r>
              <a:rPr lang="ro-RO" dirty="0" err="1"/>
              <a:t>creea</a:t>
            </a:r>
            <a:r>
              <a:rPr lang="ro-RO" dirty="0"/>
              <a:t> scene, dar nu le pot salva. Nu au acces la celelalte pagini.</a:t>
            </a:r>
          </a:p>
          <a:p>
            <a:pPr lvl="1"/>
            <a:r>
              <a:rPr lang="ro-RO" b="1" dirty="0" err="1"/>
              <a:t>Utlizatorii</a:t>
            </a:r>
            <a:r>
              <a:rPr lang="ro-RO" b="1" dirty="0"/>
              <a:t> normali </a:t>
            </a:r>
            <a:r>
              <a:rPr lang="ro-RO" dirty="0"/>
              <a:t>pot să salveze scene, și să acceseze paginile de </a:t>
            </a:r>
            <a:r>
              <a:rPr lang="ro-RO" dirty="0" err="1"/>
              <a:t>My</a:t>
            </a:r>
            <a:r>
              <a:rPr lang="ro-RO" dirty="0"/>
              <a:t> </a:t>
            </a:r>
            <a:r>
              <a:rPr lang="ro-RO" dirty="0" err="1"/>
              <a:t>Scenes</a:t>
            </a:r>
            <a:r>
              <a:rPr lang="ro-RO" dirty="0"/>
              <a:t> și </a:t>
            </a:r>
            <a:r>
              <a:rPr lang="ro-RO" dirty="0" err="1"/>
              <a:t>Feed</a:t>
            </a:r>
            <a:r>
              <a:rPr lang="ro-RO" dirty="0"/>
              <a:t>, unde pot să </a:t>
            </a:r>
            <a:r>
              <a:rPr lang="ro-RO" dirty="0" err="1"/>
              <a:t>vizualizele</a:t>
            </a:r>
            <a:r>
              <a:rPr lang="ro-RO" dirty="0"/>
              <a:t> scenele lor, să creeze postări cu scenele lor, să vizualizeze scenele altora, și să comenteze și să reacționeze la ele. Ei pot și să raporteze o scenă sau un comentariu al unui alt utilizator.</a:t>
            </a:r>
          </a:p>
          <a:p>
            <a:pPr lvl="1"/>
            <a:r>
              <a:rPr lang="ro-RO" b="1" dirty="0" err="1"/>
              <a:t>Adminii</a:t>
            </a:r>
            <a:r>
              <a:rPr lang="ro-RO" dirty="0"/>
              <a:t> au rolul de a modera și de a menține controlul și buna funcționare a platformei. Ei au acces la panoul pentru </a:t>
            </a:r>
            <a:r>
              <a:rPr lang="ro-RO" dirty="0" err="1"/>
              <a:t>admini</a:t>
            </a:r>
            <a:r>
              <a:rPr lang="ro-RO" dirty="0"/>
              <a:t>, unde pot vedea și acționa peste raporturi și </a:t>
            </a:r>
            <a:r>
              <a:rPr lang="ro-RO" dirty="0" err="1"/>
              <a:t>banuri</a:t>
            </a:r>
            <a:r>
              <a:rPr lang="ro-RO" dirty="0"/>
              <a:t> create. Ei mai pot și să șteargă postări sau comentarii sau să </a:t>
            </a:r>
            <a:r>
              <a:rPr lang="ro-RO" dirty="0" err="1"/>
              <a:t>baneze</a:t>
            </a:r>
            <a:r>
              <a:rPr lang="ro-RO" dirty="0"/>
              <a:t> utilizatori.</a:t>
            </a:r>
          </a:p>
        </p:txBody>
      </p:sp>
    </p:spTree>
    <p:extLst>
      <p:ext uri="{BB962C8B-B14F-4D97-AF65-F5344CB8AC3E}">
        <p14:creationId xmlns:p14="http://schemas.microsoft.com/office/powerpoint/2010/main" val="1175708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C46EE-7A0C-FF9D-395E-6678A8B52716}"/>
              </a:ext>
            </a:extLst>
          </p:cNvPr>
          <p:cNvSpPr>
            <a:spLocks noGrp="1"/>
          </p:cNvSpPr>
          <p:nvPr>
            <p:ph type="title"/>
          </p:nvPr>
        </p:nvSpPr>
        <p:spPr>
          <a:xfrm>
            <a:off x="1097280" y="286603"/>
            <a:ext cx="3914087" cy="1450757"/>
          </a:xfrm>
        </p:spPr>
        <p:txBody>
          <a:bodyPr/>
          <a:lstStyle/>
          <a:p>
            <a:r>
              <a:rPr lang="ro-RO" dirty="0"/>
              <a:t>Funcționalități</a:t>
            </a:r>
          </a:p>
        </p:txBody>
      </p:sp>
      <p:pic>
        <p:nvPicPr>
          <p:cNvPr id="5" name="Content Placeholder 4">
            <a:extLst>
              <a:ext uri="{FF2B5EF4-FFF2-40B4-BE49-F238E27FC236}">
                <a16:creationId xmlns:a16="http://schemas.microsoft.com/office/drawing/2014/main" id="{FADE6AA4-4BA6-F66B-0937-F1650C817A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1012" y="1998405"/>
            <a:ext cx="1272697" cy="1643449"/>
          </a:xfrm>
          <a:prstGeom prst="rect">
            <a:avLst/>
          </a:prstGeom>
        </p:spPr>
      </p:pic>
      <p:pic>
        <p:nvPicPr>
          <p:cNvPr id="7" name="Picture 6">
            <a:extLst>
              <a:ext uri="{FF2B5EF4-FFF2-40B4-BE49-F238E27FC236}">
                <a16:creationId xmlns:a16="http://schemas.microsoft.com/office/drawing/2014/main" id="{DE87CD12-200C-F5C1-2F94-045286B745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8669" y="1998404"/>
            <a:ext cx="1272698" cy="1643449"/>
          </a:xfrm>
          <a:prstGeom prst="rect">
            <a:avLst/>
          </a:prstGeom>
        </p:spPr>
      </p:pic>
      <p:pic>
        <p:nvPicPr>
          <p:cNvPr id="9" name="Picture 8">
            <a:extLst>
              <a:ext uri="{FF2B5EF4-FFF2-40B4-BE49-F238E27FC236}">
                <a16:creationId xmlns:a16="http://schemas.microsoft.com/office/drawing/2014/main" id="{FA681D5D-62AB-C997-8637-AE16EA64C4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4159" y="634395"/>
            <a:ext cx="2629519" cy="1643449"/>
          </a:xfrm>
          <a:prstGeom prst="rect">
            <a:avLst/>
          </a:prstGeom>
        </p:spPr>
      </p:pic>
      <p:pic>
        <p:nvPicPr>
          <p:cNvPr id="11" name="Picture 10">
            <a:extLst>
              <a:ext uri="{FF2B5EF4-FFF2-40B4-BE49-F238E27FC236}">
                <a16:creationId xmlns:a16="http://schemas.microsoft.com/office/drawing/2014/main" id="{F8950722-1504-0721-D1EE-DBB52FB609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68530" y="634394"/>
            <a:ext cx="2629519" cy="1643449"/>
          </a:xfrm>
          <a:prstGeom prst="rect">
            <a:avLst/>
          </a:prstGeom>
        </p:spPr>
      </p:pic>
      <p:pic>
        <p:nvPicPr>
          <p:cNvPr id="13" name="Picture 12">
            <a:extLst>
              <a:ext uri="{FF2B5EF4-FFF2-40B4-BE49-F238E27FC236}">
                <a16:creationId xmlns:a16="http://schemas.microsoft.com/office/drawing/2014/main" id="{2300FA68-1EBD-288B-9379-1267080692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2172" y="4298916"/>
            <a:ext cx="2629519" cy="1643450"/>
          </a:xfrm>
          <a:prstGeom prst="rect">
            <a:avLst/>
          </a:prstGeom>
        </p:spPr>
      </p:pic>
      <p:pic>
        <p:nvPicPr>
          <p:cNvPr id="15" name="Picture 14">
            <a:extLst>
              <a:ext uri="{FF2B5EF4-FFF2-40B4-BE49-F238E27FC236}">
                <a16:creationId xmlns:a16="http://schemas.microsoft.com/office/drawing/2014/main" id="{9355D4F2-9730-118B-EBFB-A2CC6A82FE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57426" y="4298916"/>
            <a:ext cx="2629519" cy="1643449"/>
          </a:xfrm>
          <a:prstGeom prst="rect">
            <a:avLst/>
          </a:prstGeom>
        </p:spPr>
      </p:pic>
      <p:pic>
        <p:nvPicPr>
          <p:cNvPr id="17" name="Picture 16">
            <a:extLst>
              <a:ext uri="{FF2B5EF4-FFF2-40B4-BE49-F238E27FC236}">
                <a16:creationId xmlns:a16="http://schemas.microsoft.com/office/drawing/2014/main" id="{164DA1B3-B0DE-E781-D36A-8C95EF7787F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92133" y="2687846"/>
            <a:ext cx="2629519" cy="1643449"/>
          </a:xfrm>
          <a:prstGeom prst="rect">
            <a:avLst/>
          </a:prstGeom>
        </p:spPr>
      </p:pic>
      <p:pic>
        <p:nvPicPr>
          <p:cNvPr id="19" name="Picture 18">
            <a:extLst>
              <a:ext uri="{FF2B5EF4-FFF2-40B4-BE49-F238E27FC236}">
                <a16:creationId xmlns:a16="http://schemas.microsoft.com/office/drawing/2014/main" id="{8EB806B6-7779-3059-C3AD-3697E236874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64974" y="4391576"/>
            <a:ext cx="2629519" cy="1643449"/>
          </a:xfrm>
          <a:prstGeom prst="rect">
            <a:avLst/>
          </a:prstGeom>
        </p:spPr>
      </p:pic>
      <p:pic>
        <p:nvPicPr>
          <p:cNvPr id="21" name="Picture 20">
            <a:extLst>
              <a:ext uri="{FF2B5EF4-FFF2-40B4-BE49-F238E27FC236}">
                <a16:creationId xmlns:a16="http://schemas.microsoft.com/office/drawing/2014/main" id="{C4374F5C-E6B9-6D7B-1C8A-3A5606241CF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96000" y="4391576"/>
            <a:ext cx="2629519" cy="1643449"/>
          </a:xfrm>
          <a:prstGeom prst="rect">
            <a:avLst/>
          </a:prstGeom>
        </p:spPr>
      </p:pic>
    </p:spTree>
    <p:extLst>
      <p:ext uri="{BB962C8B-B14F-4D97-AF65-F5344CB8AC3E}">
        <p14:creationId xmlns:p14="http://schemas.microsoft.com/office/powerpoint/2010/main" val="366343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1C759-F434-F573-BA48-1FCE4A2D39B6}"/>
              </a:ext>
            </a:extLst>
          </p:cNvPr>
          <p:cNvSpPr>
            <a:spLocks noGrp="1"/>
          </p:cNvSpPr>
          <p:nvPr>
            <p:ph type="ctrTitle"/>
          </p:nvPr>
        </p:nvSpPr>
        <p:spPr/>
        <p:txBody>
          <a:bodyPr/>
          <a:lstStyle/>
          <a:p>
            <a:r>
              <a:rPr lang="ro-RO" dirty="0" err="1"/>
              <a:t>Demo</a:t>
            </a:r>
            <a:endParaRPr lang="ro-RO" dirty="0"/>
          </a:p>
        </p:txBody>
      </p:sp>
      <p:sp>
        <p:nvSpPr>
          <p:cNvPr id="5" name="Subtitle 4">
            <a:extLst>
              <a:ext uri="{FF2B5EF4-FFF2-40B4-BE49-F238E27FC236}">
                <a16:creationId xmlns:a16="http://schemas.microsoft.com/office/drawing/2014/main" id="{23897732-C121-C494-5015-1E32492FFE60}"/>
              </a:ext>
            </a:extLst>
          </p:cNvPr>
          <p:cNvSpPr>
            <a:spLocks noGrp="1"/>
          </p:cNvSpPr>
          <p:nvPr>
            <p:ph type="subTitle" idx="1"/>
          </p:nvPr>
        </p:nvSpPr>
        <p:spPr/>
        <p:txBody>
          <a:bodyPr/>
          <a:lstStyle/>
          <a:p>
            <a:endParaRPr lang="ro-RO"/>
          </a:p>
        </p:txBody>
      </p:sp>
    </p:spTree>
    <p:extLst>
      <p:ext uri="{BB962C8B-B14F-4D97-AF65-F5344CB8AC3E}">
        <p14:creationId xmlns:p14="http://schemas.microsoft.com/office/powerpoint/2010/main" val="291570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C5473-88A9-0F64-5641-44F5B8014C81}"/>
              </a:ext>
            </a:extLst>
          </p:cNvPr>
          <p:cNvSpPr>
            <a:spLocks noGrp="1"/>
          </p:cNvSpPr>
          <p:nvPr>
            <p:ph type="ctrTitle"/>
          </p:nvPr>
        </p:nvSpPr>
        <p:spPr/>
        <p:txBody>
          <a:bodyPr/>
          <a:lstStyle/>
          <a:p>
            <a:r>
              <a:rPr lang="ro-RO" dirty="0"/>
              <a:t>Mulțumesc!</a:t>
            </a:r>
          </a:p>
        </p:txBody>
      </p:sp>
      <p:sp>
        <p:nvSpPr>
          <p:cNvPr id="5" name="Subtitle 4">
            <a:extLst>
              <a:ext uri="{FF2B5EF4-FFF2-40B4-BE49-F238E27FC236}">
                <a16:creationId xmlns:a16="http://schemas.microsoft.com/office/drawing/2014/main" id="{0874C819-CD6A-3FB8-3A5F-154572108521}"/>
              </a:ext>
            </a:extLst>
          </p:cNvPr>
          <p:cNvSpPr>
            <a:spLocks noGrp="1"/>
          </p:cNvSpPr>
          <p:nvPr>
            <p:ph type="subTitle" idx="1"/>
          </p:nvPr>
        </p:nvSpPr>
        <p:spPr/>
        <p:txBody>
          <a:bodyPr>
            <a:normAutofit/>
          </a:bodyPr>
          <a:lstStyle/>
          <a:p>
            <a:r>
              <a:rPr lang="ro-RO" sz="4800" dirty="0" err="1"/>
              <a:t>Intrebări</a:t>
            </a:r>
            <a:endParaRPr lang="ro-RO" sz="4800" dirty="0"/>
          </a:p>
        </p:txBody>
      </p:sp>
    </p:spTree>
    <p:extLst>
      <p:ext uri="{BB962C8B-B14F-4D97-AF65-F5344CB8AC3E}">
        <p14:creationId xmlns:p14="http://schemas.microsoft.com/office/powerpoint/2010/main" val="266787613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docProps/app.xml><?xml version="1.0" encoding="utf-8"?>
<Properties xmlns="http://schemas.openxmlformats.org/officeDocument/2006/extended-properties" xmlns:vt="http://schemas.openxmlformats.org/officeDocument/2006/docPropsVTypes">
  <Template>Retrospect</Template>
  <TotalTime>103</TotalTime>
  <Words>1189</Words>
  <Application>Microsoft Office PowerPoint</Application>
  <PresentationFormat>Widescreen</PresentationFormat>
  <Paragraphs>46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Calibri Light</vt:lpstr>
      <vt:lpstr>Cambria Math</vt:lpstr>
      <vt:lpstr>Retrospect</vt:lpstr>
      <vt:lpstr>Graphing - Platformă de vizualizare și editare de grafuri 3D folosind WebGL</vt:lpstr>
      <vt:lpstr>Introducere</vt:lpstr>
      <vt:lpstr>Alegerea temei și contribuția originală</vt:lpstr>
      <vt:lpstr>Arhitectura aplicației</vt:lpstr>
      <vt:lpstr>Overview</vt:lpstr>
      <vt:lpstr>Backend</vt:lpstr>
      <vt:lpstr>Frontend</vt:lpstr>
      <vt:lpstr>Baza de date</vt:lpstr>
      <vt:lpstr>Interfața de grafare</vt:lpstr>
      <vt:lpstr>Interfața de grafare (cont.)</vt:lpstr>
      <vt:lpstr>Marching Cubes</vt:lpstr>
      <vt:lpstr>Funționalități și Roluri</vt:lpstr>
      <vt:lpstr>Roluri</vt:lpstr>
      <vt:lpstr>Funcționalități</vt:lpstr>
      <vt:lpstr>Demo</vt:lpstr>
      <vt:lpstr>Mulțumesc!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Răzvan Păcurariu</dc:creator>
  <cp:lastModifiedBy>Răzvan Păcurariu</cp:lastModifiedBy>
  <cp:revision>1</cp:revision>
  <dcterms:created xsi:type="dcterms:W3CDTF">2026-07-02T06:45:57Z</dcterms:created>
  <dcterms:modified xsi:type="dcterms:W3CDTF">2026-07-02T08:29:31Z</dcterms:modified>
</cp:coreProperties>
</file>